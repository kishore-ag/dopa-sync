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976db577bb4016" /><Relationship Type="http://schemas.openxmlformats.org/officeDocument/2006/relationships/extended-properties" Target="/docProps/app.xml" Id="Rc6ad9acfda3f4167" /><Relationship Type="http://schemas.openxmlformats.org/officeDocument/2006/relationships/officeDocument" Target="/ppt/presentation.xml" Id="R8d279ad808a942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ac96bbb7ea4381"/>
  </p:sldMasterIdLst>
  <p:notesMasterIdLst>
    <p:notesMasterId xmlns:r="http://schemas.openxmlformats.org/officeDocument/2006/relationships" r:id="Re74a94a1cd3948ae"/>
  </p:notesMasterIdLst>
  <p:sldIdLst>
    <p:sldId xmlns:r="http://schemas.openxmlformats.org/officeDocument/2006/relationships" id="256" r:id="R02c78f2b2f75428a"/>
    <p:sldId xmlns:r="http://schemas.openxmlformats.org/officeDocument/2006/relationships" id="257" r:id="R1b117ce90b844bfd"/>
    <p:sldId xmlns:r="http://schemas.openxmlformats.org/officeDocument/2006/relationships" id="258" r:id="R0ac4c53c0dbb4b73"/>
    <p:sldId xmlns:r="http://schemas.openxmlformats.org/officeDocument/2006/relationships" id="259" r:id="Raf7ed661bea74880"/>
    <p:sldId xmlns:r="http://schemas.openxmlformats.org/officeDocument/2006/relationships" id="260" r:id="Rbc91b2d32c5f4f94"/>
    <p:sldId xmlns:r="http://schemas.openxmlformats.org/officeDocument/2006/relationships" id="261" r:id="R9910f474762b430a"/>
    <p:sldId xmlns:r="http://schemas.openxmlformats.org/officeDocument/2006/relationships" id="262" r:id="R7859f0ed21a4473e"/>
    <p:sldId xmlns:r="http://schemas.openxmlformats.org/officeDocument/2006/relationships" id="263" r:id="Rc0fa6b6d01db47e7"/>
    <p:sldId xmlns:r="http://schemas.openxmlformats.org/officeDocument/2006/relationships" id="264" r:id="Ra61068fa511a4260"/>
    <p:sldId xmlns:r="http://schemas.openxmlformats.org/officeDocument/2006/relationships" id="265" r:id="R19a2d3f9edac44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7d6780cb76421c" /><Relationship Type="http://schemas.openxmlformats.org/officeDocument/2006/relationships/slideMaster" Target="/ppt/slideMasters/slideMaster1.xml" Id="R5aac96bbb7ea4381" /><Relationship Type="http://schemas.openxmlformats.org/officeDocument/2006/relationships/notesMaster" Target="/ppt/notesMasters/notesMaster1.xml" Id="Re74a94a1cd3948ae" /><Relationship Type="http://schemas.openxmlformats.org/officeDocument/2006/relationships/presProps" Target="/ppt/presProps.xml" Id="Ra42e989146c44f56" /><Relationship Type="http://schemas.openxmlformats.org/officeDocument/2006/relationships/tableStyles" Target="/ppt/tableStyles.xml" Id="R055c9140c9be48b7" /><Relationship Type="http://schemas.openxmlformats.org/officeDocument/2006/relationships/slide" Target="/ppt/slides/slide1.xml" Id="R02c78f2b2f75428a" /><Relationship Type="http://schemas.openxmlformats.org/officeDocument/2006/relationships/slide" Target="/ppt/slides/slide2.xml" Id="R1b117ce90b844bfd" /><Relationship Type="http://schemas.openxmlformats.org/officeDocument/2006/relationships/slide" Target="/ppt/slides/slide3.xml" Id="R0ac4c53c0dbb4b73" /><Relationship Type="http://schemas.openxmlformats.org/officeDocument/2006/relationships/slide" Target="/ppt/slides/slide4.xml" Id="Raf7ed661bea74880" /><Relationship Type="http://schemas.openxmlformats.org/officeDocument/2006/relationships/slide" Target="/ppt/slides/slide5.xml" Id="Rbc91b2d32c5f4f94" /><Relationship Type="http://schemas.openxmlformats.org/officeDocument/2006/relationships/slide" Target="/ppt/slides/slide6.xml" Id="R9910f474762b430a" /><Relationship Type="http://schemas.openxmlformats.org/officeDocument/2006/relationships/slide" Target="/ppt/slides/slide7.xml" Id="R7859f0ed21a4473e" /><Relationship Type="http://schemas.openxmlformats.org/officeDocument/2006/relationships/slide" Target="/ppt/slides/slide8.xml" Id="Rc0fa6b6d01db47e7" /><Relationship Type="http://schemas.openxmlformats.org/officeDocument/2006/relationships/slide" Target="/ppt/slides/slide9.xml" Id="Ra61068fa511a4260" /><Relationship Type="http://schemas.openxmlformats.org/officeDocument/2006/relationships/slide" Target="/ppt/slides/slide10.xml" Id="R19a2d3f9edac44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ba8e21baa141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f845a064724eb7" /><Relationship Type="http://schemas.openxmlformats.org/officeDocument/2006/relationships/notesMaster" Target="/ppt/notesMasters/notesMaster1.xml" Id="R75b6efa78aaa4c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38df08e71d4092" /><Relationship Type="http://schemas.openxmlformats.org/officeDocument/2006/relationships/notesMaster" Target="/ppt/notesMasters/notesMaster1.xml" Id="Rdf37e80addd44f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425d806a954f68" /><Relationship Type="http://schemas.openxmlformats.org/officeDocument/2006/relationships/notesMaster" Target="/ppt/notesMasters/notesMaster1.xml" Id="R9d563da11fde46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5c8de3a6f44c57" /><Relationship Type="http://schemas.openxmlformats.org/officeDocument/2006/relationships/notesMaster" Target="/ppt/notesMasters/notesMaster1.xml" Id="R898d9e6e49c444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f0a6d554f84fe2" /><Relationship Type="http://schemas.openxmlformats.org/officeDocument/2006/relationships/notesMaster" Target="/ppt/notesMasters/notesMaster1.xml" Id="R9e6b9c0ff7ce47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f2f6eba0924e2e" /><Relationship Type="http://schemas.openxmlformats.org/officeDocument/2006/relationships/notesMaster" Target="/ppt/notesMasters/notesMaster1.xml" Id="R59da693d7fa34b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bb33d3e3c14637" /><Relationship Type="http://schemas.openxmlformats.org/officeDocument/2006/relationships/notesMaster" Target="/ppt/notesMasters/notesMaster1.xml" Id="R7e1a11460fbb4f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c5430aa13f484b" /><Relationship Type="http://schemas.openxmlformats.org/officeDocument/2006/relationships/notesMaster" Target="/ppt/notesMasters/notesMaster1.xml" Id="R928468effe1e4a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3ea8d95e034e0d" /><Relationship Type="http://schemas.openxmlformats.org/officeDocument/2006/relationships/notesMaster" Target="/ppt/notesMasters/notesMaster1.xml" Id="R6642c7cf5c104e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4d8c72047447e3" /><Relationship Type="http://schemas.openxmlformats.org/officeDocument/2006/relationships/notesMaster" Target="/ppt/notesMasters/notesMaster1.xml" Id="Rbb9d0bbbbe924d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a small, reproducible simulation study. The traffic illustration is a schematic, not a real intersection or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question narrowly: this tests a controller in the implemented synthetic environment, not a real traffic network.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two opposing approaches per phase are aggregated. Arrivals are seeded Poisson counts; these rates are design settings, not measured traffic rates. Switching is atomic and mutually exclusive.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update is standard one-step Q-learning. The next-state maximum is taken only over actions that are legal under the minimum-green rule. Training uses epsilon-greedy exploration; browser evaluation is greedy and does not update the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Scientific grounding: Schultz, Dayan, and Montague (1997), Science, DOI 10.1126/science.275.5306.1593; Hollerman and Schultz (1998), Nature Neuroscience, DOI 10.1038/1124. These findings motivate a computational analogy; they do not mean this traffic model measures dopamine.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training episodes use separate deterministic seeds. For each held-out seed, both controllers start fresh environments with the same arrival stream. Evaluation is descriptive, and no statistical significance test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summary from results/experiment_summary.json. RL: mean completed-vehicle wait 4.08 s (SD 0.53), mean queue per movement 1.23 (SD 0.24), throughput 177.9 (SD 13.6), switches 49.0 (SD 0.18). Fixed: wait 6.37 s (SD 0.64), queue 1.92 (SD 0.30), throughput 176.9 (SD 13.1), switches 23.0 (SD 0). The wait metric averages simulated queue-wait seconds for vehicles completed during the episode. These are descriptive means, not significance-tested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exported JSON includes the trained table and inference contract. The browser validates schema, dimensions, action mapping, and checksum before labeling the model trained. Its computed δ is an inference-time diagnostic; the policy remains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this is an initial controlled study. The simulation can compare computational policies under its own assumptions, but it cannot establish performance on real roads or biological mechanisms.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Bibliographic details were verified against the journal/MIT Press records. DOI links: https://doi.org/10.1126/science.275.5306.1593 and https://doi.org/10.1038/1124. MIT Press book page: https://mitpress.mit.edu/9780262039246/reinforcement-learning/.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e101a50daa4b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da5999c6e45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f96b40576c48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c034eb44604b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e314929e1b45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d7c760b9741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65408A-A7B2-486B-818B-0D15C2E99F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33E08F-4955-46E4-972E-008D32AB74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C51186C-4CF5-47A3-93D3-CFED9BB2B8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9CDB36-6FED-4B29-B3B0-92857D1986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2FB3300-5344-4751-823D-7E85A8DB1C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811E31-B8A5-47B2-8FFA-71F706B951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A078BB-74F3-47C5-A080-EB8EF848DA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170399F-612C-4AD1-879F-CB66A3BB1C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EB2359-91F1-4377-8249-3DE79B95E5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279153-064C-4B4E-81C1-77DDD6DA43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35e20048974233" /><Relationship Type="http://schemas.openxmlformats.org/officeDocument/2006/relationships/slideLayout" Target="/ppt/slideLayouts/slideLayout1.xml" Id="Rcad5f655fd244560" /><Relationship Type="http://schemas.openxmlformats.org/officeDocument/2006/relationships/slideLayout" Target="/ppt/slideLayouts/slideLayout2.xml" Id="Rae736714af1644e9" /><Relationship Type="http://schemas.openxmlformats.org/officeDocument/2006/relationships/slideLayout" Target="/ppt/slideLayouts/slideLayout3.xml" Id="Rb8cf592c3d6a461c" /><Relationship Type="http://schemas.openxmlformats.org/officeDocument/2006/relationships/slideLayout" Target="/ppt/slideLayouts/slideLayout4.xml" Id="R29d0650f9e0642b5" /><Relationship Type="http://schemas.openxmlformats.org/officeDocument/2006/relationships/slideLayout" Target="/ppt/slideLayouts/slideLayout5.xml" Id="R1448461af0494054" /><Relationship Type="http://schemas.openxmlformats.org/officeDocument/2006/relationships/slideLayout" Target="/ppt/slideLayouts/slideLayout6.xml" Id="R1ad02709b64e41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d5f655fd244560"/>
    <p:sldLayoutId xmlns:r="http://schemas.openxmlformats.org/officeDocument/2006/relationships" id="2147483650" r:id="Rae736714af1644e9"/>
    <p:sldLayoutId xmlns:r="http://schemas.openxmlformats.org/officeDocument/2006/relationships" id="2147483651" r:id="Rb8cf592c3d6a461c"/>
    <p:sldLayoutId xmlns:r="http://schemas.openxmlformats.org/officeDocument/2006/relationships" id="2147483652" r:id="R29d0650f9e0642b5"/>
    <p:sldLayoutId xmlns:r="http://schemas.openxmlformats.org/officeDocument/2006/relationships" id="2147483653" r:id="R1448461af0494054"/>
    <p:sldLayoutId xmlns:r="http://schemas.openxmlformats.org/officeDocument/2006/relationships" id="2147483654" r:id="R1ad02709b64e41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8d842406b14f39" /><Relationship Type="http://schemas.openxmlformats.org/officeDocument/2006/relationships/notesSlide" Target="/ppt/notesSlides/notesSlide1.xml" Id="R7a2fa49a24dc49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d12ee05a464e69" /><Relationship Type="http://schemas.openxmlformats.org/officeDocument/2006/relationships/notesSlide" Target="/ppt/notesSlides/notesSlide2.xml" Id="Rf39118dcb5e843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fea98d2de34d82" /><Relationship Type="http://schemas.openxmlformats.org/officeDocument/2006/relationships/notesSlide" Target="/ppt/notesSlides/notesSlide3.xml" Id="R235ed5600a2a4d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385227b10444ac" /><Relationship Type="http://schemas.openxmlformats.org/officeDocument/2006/relationships/notesSlide" Target="/ppt/notesSlides/notesSlide4.xml" Id="R080c8f63146e41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437360c97447f3" /><Relationship Type="http://schemas.openxmlformats.org/officeDocument/2006/relationships/notesSlide" Target="/ppt/notesSlides/notesSlide5.xml" Id="R938ba8f3cc0c47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e569473e54c9d" /><Relationship Type="http://schemas.openxmlformats.org/officeDocument/2006/relationships/notesSlide" Target="/ppt/notesSlides/notesSlide6.xml" Id="R11e1138386e04a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c94a87d0d94e86" /><Relationship Type="http://schemas.openxmlformats.org/officeDocument/2006/relationships/notesSlide" Target="/ppt/notesSlides/notesSlide7.xml" Id="R9d49143cbd164d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39fa663f24035" /><Relationship Type="http://schemas.openxmlformats.org/officeDocument/2006/relationships/notesSlide" Target="/ppt/notesSlides/notesSlide8.xml" Id="R5ac01f9cfbc043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5142aec0364595" /><Relationship Type="http://schemas.openxmlformats.org/officeDocument/2006/relationships/notesSlide" Target="/ppt/notesSlides/notesSlide9.xml" Id="Rf729e67478d945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cc7358cd8b4b47" /><Relationship Type="http://schemas.openxmlformats.org/officeDocument/2006/relationships/notesSlide" Target="/ppt/notesSlides/notesSlide10.xml" Id="R0085617224fb4f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3EE963-9FEA-4FAA-BE56-9ECA621A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8E7CC-A9B1-4A9A-8601-58A73A85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14425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DOPA-SYNC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6787C-E68E-42F6-A621-717825A7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85975"/>
            <a:ext cx="600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48D6B8"/>
                </a:solidFill>
                <a:latin typeface="Arial"/>
                <a:ea typeface="Arial"/>
                <a:cs typeface="Arial"/>
              </a:rPr>
              <a:t>Dopamine-Inspired Adaptive</a:t>
            </a:r>
          </a:p>
          <a:p xmlns:a="http://schemas.openxmlformats.org/drawingml/2006/main">
            <a:pPr algn="l">
              <a:defRPr sz="26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48D6B8"/>
                </a:solidFill>
                <a:latin typeface="Arial"/>
                <a:ea typeface="Arial"/>
                <a:cs typeface="Arial"/>
              </a:rPr>
              <a:t>Traffic Signal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2CC7B-5127-4CEE-9C96-712AD83C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487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46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F1888-DF26-4665-9DED-7E2B570B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547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A tabular reinforcement-learning study</a:t>
            </a:r>
          </a:p>
          <a:p xmlns:a="http://schemas.openxmlformats.org/drawingml/2006/main">
            <a:pPr algn="l">
              <a:defRPr sz="18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in a synthetic two-phase intersection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78425-A953-45C0-877F-824ED71B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Kishore A G  ·  23BAI1577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7DB47-F58E-4046-ACD4-6D1E17E4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Shyam Karthinathan PK  ·  23BAI1394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02891-455D-49BB-909C-D4FFE0CD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85875"/>
            <a:ext cx="32575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56D65-4423-4A17-824E-B65BA4A8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85875"/>
            <a:ext cx="12573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E3CE7-C78F-494F-AE7B-4616ABEA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62225"/>
            <a:ext cx="3257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FC7E3-3639-44E4-AB57-5DFF1DDE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66850"/>
            <a:ext cx="76200" cy="20955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B4C3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CC8D4-96CE-489E-8E92-9A1CE809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76425"/>
            <a:ext cx="76200" cy="20955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B4C3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C2258-D4D7-487E-8742-A55C980F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86000"/>
            <a:ext cx="76200" cy="20955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B4C3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7DC81-6CF7-43B7-8487-32FB73B9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43350"/>
            <a:ext cx="76200" cy="20955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B4C3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0B3E5-390B-48A3-A87B-A862A9BE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52925"/>
            <a:ext cx="76200" cy="20955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B4C3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C37FE-7A48-414C-9F23-76BF2217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62500"/>
            <a:ext cx="76200" cy="20955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B4C3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1B4DF-7E3E-44C7-81BA-0DEE7F68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43250"/>
            <a:ext cx="1714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4C3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5152AB-114C-42FA-8D4A-67F594CB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1714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4C3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25092-9635-4385-83F6-097307AB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43250"/>
            <a:ext cx="1714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4C3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668F9-FD13-40A5-A6D0-AD264EBB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648075"/>
            <a:ext cx="1714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4C3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868F1C-8B4B-4169-9FB5-BC81DA3D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648075"/>
            <a:ext cx="1714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4C3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1FBEE8-D15D-4A30-9717-48A392F5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648075"/>
            <a:ext cx="1714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4C3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D43CE4-B555-49E2-B37A-671B6EB1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2955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41B16D-B80F-42CA-8A6A-772CE7BC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895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85D17E-9051-4A49-A2F8-B2876309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948991-A0EF-4EC2-8886-0F34C8B1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05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2427F1-8270-43B4-9637-50E08A25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04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8D6B8"/>
                </a:solidFill>
                <a:latin typeface="Arial"/>
                <a:ea typeface="Arial"/>
                <a:cs typeface="Arial"/>
              </a:rPr>
              <a:t>NS GREEN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7FC0DA-912F-4EDB-9631-C3703C3D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244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C86"/>
                </a:solidFill>
                <a:latin typeface="Arial"/>
                <a:ea typeface="Arial"/>
                <a:cs typeface="Arial"/>
              </a:rPr>
              <a:t>EW 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D9D2D5-1E51-4F62-8F73-6F6AED71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48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10-slide 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4406678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3702DE-3FE3-431C-9883-0B7405BB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F1DE5-F12F-4DA9-B673-E06C4A2B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Project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F6B9F-A462-4F20-8012-A0428D1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Can a learned signal policy respond to changing queues?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A1F7D-A531-4F16-96D6-38577D8B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977EF-3111-4845-93B0-181CF88B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DOPA-SYNC  · 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5F014-0E17-4C82-974C-AF669F47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2DB70-D3AA-4C3F-9B76-41788448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8D6B8"/>
                </a:solidFill>
                <a:latin typeface="Arial"/>
                <a:ea typeface="Arial"/>
                <a:cs typeface="Arial"/>
              </a:rPr>
              <a:t>The control 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547DC-A7FA-42D8-A3E6-F3867963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466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441"/>
          </a:bodyPr>
          <a:lstStyle xmlns:a="http://schemas.openxmlformats.org/drawingml/2006/main">
            <a:defPPr algn="l">
              <a:defRPr sz="26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A fixed schedule repeats its timing.</a:t>
            </a:r>
          </a:p>
          <a:p xmlns:a="http://schemas.openxmlformats.org/drawingml/2006/main">
            <a:pPr algn="l">
              <a:defRPr sz="26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Traffic demand changes from step to step.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BD37B-DDA4-4EE0-A154-32AE6E44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95675"/>
            <a:ext cx="4714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DOPA-SYNC tests whether tabular Q-learning can choose between keeping and switching phases to reduce queue burden in a controlled simulation.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5AA88-11C1-4AD6-931F-AD83E08B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95" cy="389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46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7CE3B-582E-469A-8B17-87409D3C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57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E5CEE-E076-47CC-876A-87554F16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954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5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75535-9D59-4B86-8CB9-79A425A0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288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8D6B8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FCA15-C5D2-4DEE-AC9E-4C4C4FB3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526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Train from sampled</a:t>
            </a:r>
          </a:p>
          <a:p xmlns:a="http://schemas.openxmlformats.org/drawingml/2006/main">
            <a: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traffic interactions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733FF-275E-4D08-A608-749C1A92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9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46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030EF-6F82-4DFB-A629-FD48F24D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114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7D405-186C-4C9B-87FA-2FA24215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527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5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645C3-4CBF-4693-82D7-B3C2BB74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861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9A8FF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2B6C73-F6E6-48DE-9BBD-0777D617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099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Use the same held-out</a:t>
            </a:r>
          </a:p>
          <a:p xmlns:a="http://schemas.openxmlformats.org/drawingml/2006/main">
            <a: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arrival seeds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F87CE-6BC4-4746-993C-CAB01B41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9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46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B3353B-ACA0-4931-9480-CAF1AD8F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371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1ADCF-3B3C-48D7-A03A-04AD13F6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100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5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81109-8EBB-4D67-888C-8C059D9F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434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B65F"/>
                </a:solidFill>
                <a:latin typeface="Arial"/>
                <a:ea typeface="Arial"/>
                <a:cs typeface="Arial"/>
              </a:rPr>
              <a:t>INTERPRET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06D61A-040C-4EA2-88AE-C204884C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672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Inspect the computed</a:t>
            </a:r>
          </a:p>
          <a:p xmlns:a="http://schemas.openxmlformats.org/drawingml/2006/main">
            <a:pPr algn="l">
              <a:defRPr sz="18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TD reward prediction error</a:t>
            </a:r>
          </a:p>
        </p:txBody>
      </p:sp>
    </p:spTree>
    <p:extLst>
      <p:ext uri="{BB962C8B-B14F-4D97-AF65-F5344CB8AC3E}">
        <p14:creationId xmlns:p14="http://schemas.microsoft.com/office/powerpoint/2010/main" val="1818164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965769-8C69-467B-84B8-E7DFC208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649F4-2118-45B7-9057-D0B859FB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The simulated intersection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655C8-35B7-499C-90B1-BAD07CBA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Two aggregate movements, one active green phase at a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7E04D-94DE-4456-ABE3-25B54EA2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1349E-BC93-432E-8FD4-ECB387DB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DOPA-SYNC  · 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2EEF6-1F68-4E0E-9298-7FBA8BE9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CC9E5-BE86-438B-BC84-1B399E46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43075"/>
            <a:ext cx="4333875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17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AAA83-2F80-4673-8DF9-A8455886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43075"/>
            <a:ext cx="14287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F2881-C94A-4257-8131-DC0A8420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52725"/>
            <a:ext cx="4333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320D2-6695-4339-A793-542DD990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809750"/>
            <a:ext cx="95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C3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E6727-EFE1-45B3-A3B1-E48D301B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286250"/>
            <a:ext cx="95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C3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7E517-9502-437B-AC33-EC55243F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67100"/>
            <a:ext cx="1238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C3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D0E7A-B6A5-43E2-80DE-B4DDCEBF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67100"/>
            <a:ext cx="12858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C3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B4765-E028-42DF-B3DB-6C73AB8D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478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NORTH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5BDC9-BA7C-498E-8D48-12887153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577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SOUTH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D2F00-56C9-4C2B-802A-69202049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86125"/>
            <a:ext cx="80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WEST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F289D-3C7F-4E27-8669-51CF36D8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14750"/>
            <a:ext cx="80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EAST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6BEF2-42DE-4699-8068-53F1567F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514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FC643-A323-406F-BBC4-C737DD44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10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4EAD4D-35DF-4196-9CA3-29BE3BA5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95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1A892-A626-4EB9-AB38-D0245B19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752323-F88E-4BD3-892A-0DB63197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8D6B8"/>
                </a:solidFill>
                <a:latin typeface="Arial"/>
                <a:ea typeface="Arial"/>
                <a:cs typeface="Arial"/>
              </a:rPr>
              <a:t>NS green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C454F9-DEB7-407E-A57A-88CD94C1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291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7C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7C86"/>
                </a:solidFill>
                <a:latin typeface="Arial"/>
                <a:ea typeface="Arial"/>
                <a:cs typeface="Arial"/>
              </a:rPr>
              <a:t>EW 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6E9F95-ACD0-4FE4-8F77-FBFC47DD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859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B65F"/>
                </a:solidFill>
                <a:latin typeface="Arial"/>
                <a:ea typeface="Arial"/>
                <a:cs typeface="Arial"/>
              </a:rPr>
              <a:t>MODEL SETTINGS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811A54-A840-48BD-A9B9-CBF2235D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621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Decision step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E2CC85-C4CF-4EDA-AFFA-B26DD4E7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24075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1 second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4792E4-6BD3-458A-970C-040DCDA2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19375"/>
            <a:ext cx="51911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4B7581-494B-476A-9814-449A5D22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003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Arrivals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7D2C88-E055-441D-B63D-AC4B1D16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62250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Poisson per movement: λNS 0.32, λEW 0.28 / step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39C25D-FC38-46C5-96F0-5BC10BF5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57550"/>
            <a:ext cx="51911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462FAF-C6DF-42F8-9D1C-593ABF87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385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D1BEB7-CC7F-43F4-BC2C-12F529DE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00425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1 vehicle per active green step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B28BB0-8422-4702-BB73-E6066917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95725"/>
            <a:ext cx="51911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AD98C4-8F72-4F3D-802E-4F96099D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767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Minimum green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CA4F81-33AF-47F6-9520-7B87C4E6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38600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6 seconds before a switch is allowed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084ECC-4EAC-4F20-B351-1384D1D6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33900"/>
            <a:ext cx="51911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5E5E35-AFAC-4335-BC86-5DB9D871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148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Queue bins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2FB377-7BB0-4403-9644-E30DD8E7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76775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0–2 · 3–6 · 7–11 · 12+ vehicles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24851B-8566-420F-B616-4E9807A7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429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B65F"/>
                </a:solidFill>
                <a:latin typeface="Arial"/>
                <a:ea typeface="Arial"/>
                <a:cs typeface="Arial"/>
              </a:rPr>
              <a:t>Synthetic demand · no real-traffic calibration</a:t>
            </a:r>
          </a:p>
        </p:txBody>
      </p:sp>
    </p:spTree>
    <p:extLst>
      <p:ext uri="{BB962C8B-B14F-4D97-AF65-F5344CB8AC3E}">
        <p14:creationId xmlns:p14="http://schemas.microsoft.com/office/powerpoint/2010/main" val="15995484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3F5132-620A-4F98-9572-F5DAF1ED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44BC6-4165-40AF-BFE1-8977B95C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How the agent learns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5FEB6-5A84-478C-B079-4B455F91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A small tabular Q-learning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735E6-F7B5-4CD6-97D9-1DADED2B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81C83-40FB-4718-8F06-01010DEF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DOPA-SYNC  · 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E136B-2027-48F4-911E-121C7B8F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E0710-7EFB-431A-A771-08A220E7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9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54CED-17EB-4733-B740-54BD16FB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0478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52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F1096-340C-4C48-9AD4-0B102EA7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09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8D6B8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6786C-268E-46E3-894D-B83BD1E9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051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Phase</a:t>
            </a:r>
          </a:p>
          <a:p xmlns:a="http://schemas.openxmlformats.org/drawingml/2006/main">
            <a: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Queue bins</a:t>
            </a:r>
          </a:p>
          <a:p xmlns:a="http://schemas.openxmlformats.org/drawingml/2006/main">
            <a: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Capped green 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53881-4FA1-45A1-A4C5-75F7D1CB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0764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F8A89-4588-43E7-88C6-3429A28A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09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CE595-9391-4E8F-8A3C-1CC18D81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0478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52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A8BF9-DBD1-4228-9767-05BB7CEB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09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9A8FF"/>
                </a:solidFill>
                <a:latin typeface="Arial"/>
                <a:ea typeface="Arial"/>
                <a:cs typeface="Arial"/>
              </a:rPr>
              <a:t>CHOOSE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F228C-750B-4563-841F-A7C2E9C1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1051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KEEP or SWITCH</a:t>
            </a:r>
          </a:p>
          <a:p xmlns:a="http://schemas.openxmlformats.org/drawingml/2006/main">
            <a: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Epsilon-greedy</a:t>
            </a:r>
          </a:p>
          <a:p xmlns:a="http://schemas.openxmlformats.org/drawingml/2006/main">
            <a: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Switch only when legal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48C464-E758-45A7-8FFE-BC6BEE95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0764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62931-46C6-4CA4-B56D-D81FA352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9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9558FD-70F9-45F7-A91E-9267F43E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478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52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418191-C664-4957-ACFA-F6D07083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09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B65F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16E6EC-4D4B-45C4-9270-013E0DAB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1051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262"/>
          </a:bodyPr>
          <a:lstStyle xmlns:a="http://schemas.openxmlformats.org/drawingml/2006/main">
            <a:def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Sample arrivals</a:t>
            </a:r>
          </a:p>
          <a:p xmlns:a="http://schemas.openxmlformats.org/drawingml/2006/main">
            <a: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Serve the green queue</a:t>
            </a:r>
          </a:p>
          <a:p xmlns:a="http://schemas.openxmlformats.org/drawingml/2006/main">
            <a: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Measure remaining queue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F3E53-94BD-4D4C-A668-F7693B78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764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A133C5-5C72-4F58-B9EB-2C1CC18B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9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9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701220-767B-4032-BE24-DFDECB70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0478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52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6866D6-909B-4D0A-80E9-893374DF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609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E91FF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29DB51-3309-4B17-8CAC-3F2F5D7C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051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Compute TD error</a:t>
            </a:r>
          </a:p>
          <a:p xmlns:a="http://schemas.openxmlformats.org/drawingml/2006/main">
            <a: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Update one Q value</a:t>
            </a:r>
          </a:p>
          <a:p xmlns:a="http://schemas.openxmlformats.org/drawingml/2006/main">
            <a:pPr algn="l">
              <a:defRPr sz="18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Repeat over episodes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1427BC-D699-4D74-BF86-270B67AA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52950"/>
            <a:ext cx="10544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46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7959FE-2A75-47A5-884E-C1B72D35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2917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Q(s,a) ← Q(s,a) + α [ r + γ max Q(s′,a′) − Q(s,a) 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26E7EA-10AB-4AA5-9C17-D841F597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864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At episode end, the future-value term is zero. Q-values start without a preferred action.</a:t>
            </a:r>
          </a:p>
        </p:txBody>
      </p:sp>
    </p:spTree>
    <p:extLst>
      <p:ext uri="{BB962C8B-B14F-4D97-AF65-F5344CB8AC3E}">
        <p14:creationId xmlns:p14="http://schemas.microsoft.com/office/powerpoint/2010/main" val="127046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FEF400-5B0C-444D-A9F1-6427CB03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58040-835C-4181-AC97-17BEA34D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TD error and the dopamine connection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69504-CECA-4675-B7B0-A39D5A47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A computational reward prediction error, not a biological measurement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7E1A3-0EA1-4279-A6F1-F122F441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FDF68-94C6-4E97-BF60-FFE5CF6C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DOPA-SYNC  · 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E389C-DDE2-40AA-8778-35F8CCC5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160B3-F9A8-4687-9E11-F3DB7637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71625"/>
            <a:ext cx="1057275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F4808-85BF-4C6B-BB99-B980C076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9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ctr">
              <a:defRPr sz="29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ctr">
              <a:defRPr sz="29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ctr">
              <a:defRPr sz="29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ctr">
              <a:defRPr sz="29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ctr">
              <a:defRPr sz="29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ctr">
              <a:defRPr sz="29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ctr">
              <a:defRPr sz="29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ctr">
              <a:defRPr sz="29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ctr">
              <a:defRPr sz="29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δₜ = rₜ + γ maxₐ Q(sₜ₊₁,a) − Q(sₜ,aₜ)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22FC8-DCAB-4B5E-8533-6628EB8F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1000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B65F"/>
                </a:solidFill>
                <a:latin typeface="Arial"/>
                <a:ea typeface="Arial"/>
                <a:cs typeface="Arial"/>
              </a:rPr>
              <a:t>Terminal step:  δₜ = rₜ − Q(sₜ,aₜ)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FF163-0999-4453-8CFF-5F6B70F4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6099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BD9B2-220E-4AD9-9233-DE83AE83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7528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1522"/>
                </a:solidFill>
                <a:latin typeface="Arial"/>
                <a:ea typeface="Arial"/>
                <a:cs typeface="Arial"/>
              </a:rPr>
              <a:t>δ &gt;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773F9-B30C-4D2E-9614-A3195940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705225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Outcome better</a:t>
            </a:r>
          </a:p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than estimated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763C7-12F9-4C27-B1F0-F961F470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6099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37A6D-90A7-4C40-B4CB-48F89605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7528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1522"/>
                </a:solidFill>
                <a:latin typeface="Arial"/>
                <a:ea typeface="Arial"/>
                <a:cs typeface="Arial"/>
              </a:rPr>
              <a:t>δ ≈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3DF0D-50A8-43B6-A7D5-2B43EE56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05225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Outcome near</a:t>
            </a:r>
          </a:p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expectation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1241F-85C2-4A58-B03C-01CCDEF9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6099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3D962-608F-439B-B62B-F9FCB9D9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7528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1522"/>
                </a:solidFill>
                <a:latin typeface="Arial"/>
                <a:ea typeface="Arial"/>
                <a:cs typeface="Arial"/>
              </a:rPr>
              <a:t>δ &lt;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BC559-1E78-414A-B499-1A1FA19F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705225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Outcome worse</a:t>
            </a:r>
          </a:p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than estimated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48D6F4-EEBA-468B-9CB5-EA2C7E7F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439506-BB13-4C02-80F1-845E4404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9625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E91FF"/>
                </a:solidFill>
                <a:latin typeface="Arial"/>
                <a:ea typeface="Arial"/>
                <a:cs typeface="Arial"/>
              </a:rPr>
              <a:t>Established neuroscience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D72B87-8143-4D67-A9D2-31706BE3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295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Dopamine signaling has been linked to reward prediction errors in learning research.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D539F7-0E14-4EC5-983A-D4E20F33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625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8D6B8"/>
                </a:solidFill>
                <a:latin typeface="Arial"/>
                <a:ea typeface="Arial"/>
                <a:cs typeface="Arial"/>
              </a:rPr>
              <a:t>Project interpretation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180547-9FD1-48C4-8638-E20051E4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959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>
            <a:def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Here δ is computed from Q-values and simulated rewards; it is not a dopamine concentration, firing rate, or brain simulation.</a:t>
            </a:r>
          </a:p>
        </p:txBody>
      </p:sp>
    </p:spTree>
    <p:extLst>
      <p:ext uri="{BB962C8B-B14F-4D97-AF65-F5344CB8AC3E}">
        <p14:creationId xmlns:p14="http://schemas.microsoft.com/office/powerpoint/2010/main" val="16160551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B8D1A0-5D84-4157-8696-A6947EC7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9E430-E412-4FDD-8D64-91C92D18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Experimental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C9A83-2514-4103-8A65-30733F51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Train once, then compare on paired held-out traffic seeds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40FD7-131F-4C17-B1A9-A4907D0C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617FF-F747-4CF6-9E33-D0E63C01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DOPA-SYNC  · 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0AA42-C92A-4AD3-86B7-4DAC8F60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DB984-F680-4BC4-902B-2061DB04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381250" cy="3429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A9F93-4992-4826-9C75-05B6F478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05B5B-8A5E-4904-94A8-4A4A7D02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97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8D6B8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B609C-44D6-48F4-8A3A-CDBC066E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669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E022D-7866-40E9-A2C5-09892EA4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71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episodes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BB4A3-F1CF-41B6-8390-72F8FDED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000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7EC3A-8606-44B5-A498-1F97B322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38575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300 steps each</a:t>
            </a:r>
          </a:p>
          <a:p xmlns:a="http://schemas.openxmlformats.org/drawingml/2006/main">
            <a: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Training seed: 1729</a:t>
            </a:r>
          </a:p>
          <a:p xmlns:a="http://schemas.openxmlformats.org/drawingml/2006/main">
            <a: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ε: 1.00 → 0.04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667C7-D26D-46C9-A6A1-F0EEFB31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238500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C1D4DD-35AC-4361-A230-A3F9302F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52600"/>
            <a:ext cx="2381250" cy="3429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4AF67-970F-4B28-892A-0E9E7074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526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A35B9-109F-45AD-BC31-49FCD2C4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9A8FF"/>
                </a:solidFill>
                <a:latin typeface="Arial"/>
                <a:ea typeface="Arial"/>
                <a:cs typeface="Arial"/>
              </a:rPr>
              <a:t>FREEZE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872F8D-9569-4687-90EA-4D758E25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669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E7F8E-7E32-47E9-ACFD-A50EB670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greedy 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BC1BC9-4EAB-4034-A094-6EC9D324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2000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CD6FCB-5385-46CA-89B5-4E373E70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38575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No Q updates</a:t>
            </a:r>
          </a:p>
          <a:p xmlns:a="http://schemas.openxmlformats.org/drawingml/2006/main">
            <a: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during evaluation</a:t>
            </a:r>
          </a:p>
          <a:p xmlns:a="http://schemas.openxmlformats.org/drawingml/2006/main">
            <a: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Exported as policy.json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EDC714-23CC-446D-B501-D9F6BDAD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238500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FC5CFB-6577-4A71-833F-7B4C5303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2381250" cy="3429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3D43E0-4578-498F-9EE2-F3C4C00F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29A5A4-FA4D-4629-9731-81B83A0C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97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B65F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BECF1D-6CA4-4429-A499-CD2877CF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669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98C8B7-49C2-4761-8B3A-1EE70671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71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held-out seeds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61AB8D-6C92-4BC4-B81F-7E86650E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38550"/>
            <a:ext cx="2000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9B7E2C-7AB3-4A2C-BF25-F1C0F58B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Seeds 90000–90029</a:t>
            </a:r>
          </a:p>
          <a:p xmlns:a="http://schemas.openxmlformats.org/drawingml/2006/main">
            <a: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Same arrivals per pair</a:t>
            </a:r>
          </a:p>
          <a:p xmlns:a="http://schemas.openxmlformats.org/drawingml/2006/main">
            <a: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300 seconds / episode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95611D-323F-47C9-A215-DF2DFAA7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38500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7B685C-1A40-4B64-9AE4-39A68D4E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2381250" cy="3429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75D479-03FE-488A-9DF0-FC3AF447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9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0FC234-2467-499F-ABE2-9B1CE69D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97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E91FF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0539CA-0832-484A-8047-148AE063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669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12 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83098C-42BC-428A-B2C6-B8F22DCA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71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fixed phase duration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75F5E7-EEFA-4C96-A4C5-3A9D7442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38550"/>
            <a:ext cx="2000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DD5393-EFB8-45C2-86EF-F8E96B52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38575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Same environment</a:t>
            </a:r>
          </a:p>
          <a:p xmlns:a="http://schemas.openxmlformats.org/drawingml/2006/main">
            <a: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Same episode length</a:t>
            </a:r>
          </a:p>
          <a:p xmlns:a="http://schemas.openxmlformats.org/drawingml/2006/main">
            <a:pPr algn="l">
              <a:defRPr sz="150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No weakened baseline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EC73D7-EF9A-49C7-8C67-31A182A7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67350"/>
            <a:ext cx="1004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Variability shown as sample standard deviation across scenarios; no significance test was run.</a:t>
            </a:r>
          </a:p>
        </p:txBody>
      </p:sp>
    </p:spTree>
    <p:extLst>
      <p:ext uri="{BB962C8B-B14F-4D97-AF65-F5344CB8AC3E}">
        <p14:creationId xmlns:p14="http://schemas.microsoft.com/office/powerpoint/2010/main" val="14336213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D906C0A-98C2-44B2-A598-B29B61E7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88211-4EA1-4BBD-A372-3DACBFFB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Held-out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C4210-8D48-44EA-AC95-41518A55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Means across 30 paired scenarios · error bars not shown; values below report mean ± sample SD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BB5AD-39E4-4275-903B-5DF4E1C3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27190-F92E-42C4-851F-BB83F76D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DOPA-SYNC  · 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A64D4-F2E3-465A-BBDD-A1523601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F62C3-B473-4D9A-8C06-E123378B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Mean wait · seconds / completed vehicle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49835-0AB4-4631-98BA-28A5F32F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2628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356D6-CEE4-46EC-B6C6-9971EE4F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BE821-7D8F-463A-97BC-BECCCD1A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48088"/>
            <a:ext cx="2628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3937E-35B8-498A-9AEB-4440C9C5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3313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1.9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62616-84F1-4CE8-A8E6-8B1F5EA4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28975"/>
            <a:ext cx="2628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46584-878E-427B-B2A7-09B11E3D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3.8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2FCAF-F794-4837-B0A8-CBBB22AC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9863"/>
            <a:ext cx="2628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06667-5ED8-43CE-8A76-554C43F0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5088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5.6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766FE-EF65-41E2-85F6-B0941946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2628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42C88-CAE8-4C57-8561-992EBC8C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7.5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5CAC7E-0449-4C4C-94E9-6F4678A4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37199"/>
            <a:ext cx="628650" cy="1130001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B84A8-39E8-402B-A6A5-4C4E1F67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70499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4.08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972AB3-F2BC-44D6-86C9-31A70F99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05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RL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E7949-6F55-4B07-BB8E-E3252475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02252"/>
            <a:ext cx="628650" cy="1764948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69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3EF4E-63BD-47EC-90FB-DEA953E4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35552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6.37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ABF69F-C0DD-489B-9CDF-F4D906F2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305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Fixed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5ECA03-8026-4A6F-8AC4-1E4907A8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RL 4.08 ± 0.53  ·  Fixed 6.37 ± 0.64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0145F4-0315-419E-968A-C1F4AF04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505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D833BF-F3F1-4D9A-9197-CDB9D3DB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387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Trained RL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0C969D-7B50-45AE-80F2-65C01172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05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353A9-0D56-4A8E-B499-24BDFE13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4387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Fixed time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BA3D29-C203-4833-9E8D-E0C20889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Mean queue · vehicles / movement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C4FE4A-FD35-4CB8-A251-5412BD00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67200"/>
            <a:ext cx="2628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565858-1B4C-45C9-B5AD-C99D74FB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62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EE327B-7AB1-4640-9F71-5EDAF206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48088"/>
            <a:ext cx="2628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1B211A-1D02-4F55-8FEE-F3FC1A6E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43313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0.57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996FA8-CFF4-4EFF-B948-0E76D611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28975"/>
            <a:ext cx="2628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5A7F40-B50B-4895-A2BA-FF8AB41F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242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1.1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DD63DC-8026-4BB1-99FB-514BD3E0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09863"/>
            <a:ext cx="2628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CAFE20-7227-4D2E-A1F6-BF9CD82F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05088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1.7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1A46B8-B613-4F64-AB5C-25EAF2E1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90750"/>
            <a:ext cx="2628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550A2A-C3C8-4D84-93B3-C718EC4D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859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2.3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C9074C-80D7-4230-9E5A-E29F84E3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52538"/>
            <a:ext cx="628650" cy="1114662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F45869-F44F-445A-913C-DB19356B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85838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1.23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74D64B-A881-4D4D-8B5B-33DCF192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05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RL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6AA255-4870-4FC4-80D6-684C1BD8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916"/>
            <a:ext cx="628650" cy="1733284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69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41108B-1FE4-48CF-8808-0173000C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7216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1.92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D5DF58-F4BE-4CE0-807B-7C8AEE2B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305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Fixed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85EDCB-85B8-439D-B44E-5CC9C132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958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RL 1.23 ± 0.24  ·  Fixed 1.92 ± 0.30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AF8D51-D4AD-46B6-B9CB-7EAA83D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505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171D52-0403-4C90-90AC-0B4E3BB5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387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Trained RL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460FD9-8A0A-465D-959D-B340F54F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05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1E44D7-2428-40C4-A64B-FE6C346F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4387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Fixed time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44242C-6D59-49AA-9144-78AF98DB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287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Completed vehicles / 300 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71CA247-702F-4F96-9987-58C6F499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67200"/>
            <a:ext cx="2628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367248-51A7-45AB-9834-1F1F597F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62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D39CB9-A682-4F7F-8547-FF0B2D39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48088"/>
            <a:ext cx="2628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A1608CA-5DE2-4703-91AE-E22783D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43313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7D63E1-E4B5-4C99-B1BF-33620298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28975"/>
            <a:ext cx="2628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EDCA7E-B8BE-4B4E-8B40-022285B6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242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C500D04-96B7-4CF0-AD12-07BC9DE0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09863"/>
            <a:ext cx="2628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CC973B-AC87-496B-8AAB-3FAC8B31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5088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53A951-1B8D-4734-8C96-763D9DAB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90750"/>
            <a:ext cx="2628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D653DAB-BCF5-4042-8028-8C34CC75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859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210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DA0BF7A-9C94-4B17-A5F3-7F8CF0B7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64909"/>
            <a:ext cx="628650" cy="1802291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3CB38D-A693-46AA-A8B4-C1BCD8CF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8209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178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3DAAE98-F99D-4A5D-9779-A5178378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05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RL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811CF3-89F6-4E78-9BF2-BA81F92B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475713"/>
            <a:ext cx="628650" cy="1791487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69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221FCF8-AA80-4387-997B-63B9B386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013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177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6A47D43-D01B-4BA3-8FE7-077716C7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305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Fixed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DB61F07-048D-4839-846D-AC98C788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958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RL 177.9 ± 13.6  ·  Fixed 176.9 ± 13.1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FD28E29-333F-4B4C-95DD-0FFD922D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505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252E9EC-6FFC-4AE4-8F2C-A16617C4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387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Trained RL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E2792AA-EB85-4DDC-9696-A46C8636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505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A33BD8E-DC26-4609-B7B1-0CCBAF08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54387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Fixed time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C69E079-516D-49CD-ADD7-74E367B8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829300"/>
            <a:ext cx="7334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57A984D-B8AC-4ABA-81F8-81932BD4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48350"/>
            <a:ext cx="704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65F"/>
                </a:solidFill>
                <a:latin typeface="Arial"/>
                <a:ea typeface="Arial"/>
                <a:cs typeface="Arial"/>
              </a:rPr>
              <a:t>Switches per run  ·  RL 49.0 ± 0.18   |   Fixed 23.0 ± 0.00</a:t>
            </a:r>
          </a:p>
        </p:txBody>
      </p:sp>
    </p:spTree>
    <p:extLst>
      <p:ext uri="{BB962C8B-B14F-4D97-AF65-F5344CB8AC3E}">
        <p14:creationId xmlns:p14="http://schemas.microsoft.com/office/powerpoint/2010/main" val="10085529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A13E73-24B4-496F-BFDD-272A2A46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3DBB4-658B-4047-AAC6-2893F634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From Python training to browser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4CA48-231F-4052-8A56-F9030DF8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One exported policy connects the experiment to the live simulation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2504B-D8BF-4CFC-BC7B-3DA8EE68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1D22C-625B-4F75-9006-A9E48F06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DOPA-SYNC  · 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B1D1C-0BE4-4BAE-A902-4789185B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D401E-752D-4112-AB02-584E39A7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286000" cy="1762125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CB84D-4EB9-4A8B-85C4-ED391D32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3889C-5105-43D6-B0E9-8116AC1E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65F"/>
                </a:solidFill>
                <a:latin typeface="Arial"/>
                <a:ea typeface="Arial"/>
                <a:cs typeface="Arial"/>
              </a:rPr>
              <a:t>CONFIG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D652B-1BB9-4BBA-8AB6-658F78A4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config.json</a:t>
            </a:r>
          </a:p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Seeded demand</a:t>
            </a:r>
          </a:p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Training settings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BC4D1-D123-4085-97C2-027746B3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57475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81EEA-9BDD-4D8B-8EBB-8A44F3B0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24050"/>
            <a:ext cx="2476500" cy="1762125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B66E9-25B2-4FE8-A979-B0D60B9A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2405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74C265-C415-4CB4-8610-E84103A3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336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8D6B8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37400A-12E7-4FDD-BD7C-51A01BCB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33650"/>
            <a:ext cx="2133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Environment</a:t>
            </a:r>
          </a:p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Q-learning</a:t>
            </a:r>
          </a:p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Paired evaluation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24565-0253-4CAC-BA5D-FF3DB856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57475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A86F6-6C2B-4CB7-B814-DDBFC686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24050"/>
            <a:ext cx="2095500" cy="1762125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2CB3A3-624E-4116-BBC1-5947AABE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2405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B15B3-2C24-4F7B-ABF7-EA98A1FB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336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A8FF"/>
                </a:solidFill>
                <a:latin typeface="Arial"/>
                <a:ea typeface="Arial"/>
                <a:cs typeface="Arial"/>
              </a:rPr>
              <a:t>POLICY 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D6A02B-A6FC-4DF6-B340-198B71D7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33650"/>
            <a:ext cx="175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257"/>
          </a:bodyPr>
          <a:lstStyle xmlns:a="http://schemas.openxmlformats.org/drawingml/2006/main">
            <a:def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Q-table</a:t>
            </a:r>
          </a:p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State/action map</a:t>
            </a:r>
          </a:p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SHA-256 checksum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B02D92-C7F8-4D08-A5CA-FD774294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57475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2939E5-1F67-4F38-A798-3A51BB88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24050"/>
            <a:ext cx="2000250" cy="1762125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9BF040-6E3C-4944-AE4F-D07790BC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2405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9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6AA61E-E019-440E-A02B-EF3BD93A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336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E91FF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3B7C6F-0C74-4B43-9F3E-3C07D3BC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33650"/>
            <a:ext cx="16573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Greedy control</a:t>
            </a:r>
          </a:p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Traffic display</a:t>
            </a:r>
          </a:p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Live TD error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EE33BA-7FBC-46CD-BDD9-E25A3627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65F"/>
                </a:solidFill>
                <a:latin typeface="Arial"/>
                <a:ea typeface="Arial"/>
                <a:cs typeface="Arial"/>
              </a:rPr>
              <a:t>BROWSER DISPLAYS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7CFE23-5ECB-4307-8CDB-02230914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8D6B8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AC7CD2-72A6-4E7B-8A89-B6EA17AB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43425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Current phase · elapsed green time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71A7FB-BD6C-4BBD-95FA-ECC2C3B2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A8FF"/>
                </a:solidFill>
                <a:latin typeface="Arial"/>
                <a:ea typeface="Arial"/>
                <a:cs typeface="Arial"/>
              </a:rPr>
              <a:t>Traffic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E68793-1234-412B-AABD-91C82C3E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1490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Queues · mean wait · completed vehicles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FCB9B8-D993-4D7E-9D28-644D4D26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E91FF"/>
                </a:solidFill>
                <a:latin typeface="Arial"/>
                <a:ea typeface="Arial"/>
                <a:cs typeface="Arial"/>
              </a:rPr>
              <a:t>Learning trace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06CCC8-3274-4C21-843B-010FA22A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86375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Q estimate · reward · future value · 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37946E-4A63-4307-B49C-2EA6560F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65F"/>
                </a:solidFill>
                <a:latin typeface="Arial"/>
                <a:ea typeface="Arial"/>
                <a:cs typeface="Arial"/>
              </a:rPr>
              <a:t>Run output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C0CB6C-9C70-44B1-AD49-B886BC32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65785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CSV export · fixed-time or trained controller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860A6C-62CD-4408-BF57-2C28A137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The browser reads the trained table; it does not retrain or update it.</a:t>
            </a:r>
          </a:p>
        </p:txBody>
      </p:sp>
    </p:spTree>
    <p:extLst>
      <p:ext uri="{BB962C8B-B14F-4D97-AF65-F5344CB8AC3E}">
        <p14:creationId xmlns:p14="http://schemas.microsoft.com/office/powerpoint/2010/main" val="7568628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A8580A-C72A-444A-A9CC-3574E98D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65F80-F427-4C9D-97CD-E90AA922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What the results do—and do not—show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C6DCC-D2BB-487A-8DA7-816D2764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A descriptive outcome for this configuration and these simulated scenarios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3404B-7FF3-499F-B29B-B1A17893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CC77F-31FF-4079-866B-E3A7506E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DOPA-SYNC  · 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D29B3-F240-441F-A239-B4EE040A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CF55A-FE3A-4CB5-BD86-70886B33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762500" cy="371475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01C65-C4BB-4EBF-AA82-6A7C4651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C7C8A-06C7-4FB2-8DDB-2E4E3382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905000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8D6B8"/>
                </a:solidFill>
                <a:latin typeface="Arial"/>
                <a:ea typeface="Arial"/>
                <a:cs typeface="Arial"/>
              </a:rPr>
              <a:t>OBSERVED IN THIS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BF7A6-531D-4723-95C7-61FF4EEF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0300"/>
            <a:ext cx="4048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518"/>
          </a:bodyPr>
          <a:lstStyle xmlns:a="http://schemas.openxmlformats.org/drawingml/2006/main">
            <a:defPPr algn="l">
              <a:defRPr sz="23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Lower average wait</a:t>
            </a:r>
          </a:p>
          <a:p xmlns:a="http://schemas.openxmlformats.org/drawingml/2006/main">
            <a:pPr algn="l">
              <a:defRPr sz="23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and queue length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Similar throughput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More frequent phase switches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87BC9-7863-4026-8EF9-E37B1E34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705350"/>
            <a:ext cx="4048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The policy appears to trade more switching for lower queue burden here.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2F2B2-89A7-44E8-9599-85257738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57350"/>
            <a:ext cx="5391150" cy="371475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7AED7-2BCE-413F-A550-A8494A82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5735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20BBD-80A9-4F24-A8BB-529C36A1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05000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65F"/>
                </a:solidFill>
                <a:latin typeface="Arial"/>
                <a:ea typeface="Arial"/>
                <a:cs typeface="Arial"/>
              </a:rPr>
              <a:t>LIMITS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3AD1A-28AA-451F-9247-D8F276A6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1CAB0-D34A-4310-9FC9-898BC24B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Synthetic Poisson arrivals; not calibrated to real traffic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00471-6340-418A-B69D-E3E90838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CAD6F-2124-404F-8CAA-DDEFF6DF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One intersection with two aggregate movements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DAF02-9106-4208-9376-20C974FD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90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9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31613C-C2E6-4045-962F-F7D18813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Queue lengths are discretized into a small tabular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318363-352F-46B4-80A0-75155A7B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F63D5E-519D-4085-87DC-1250CF61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Only 30 held-out scenarios; no significance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DEAE5B-A698-40A8-A127-41511874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AABAD2-8217-492E-ACF8-256D366C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0530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TD error is computational; no biological 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68965-6D74-4B55-993A-DA8953AA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388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Conclusion: useful as a controlled learning demonstration, not a deployment-ready traffic controller.</a:t>
            </a:r>
          </a:p>
        </p:txBody>
      </p:sp>
    </p:spTree>
    <p:extLst>
      <p:ext uri="{BB962C8B-B14F-4D97-AF65-F5344CB8AC3E}">
        <p14:creationId xmlns:p14="http://schemas.microsoft.com/office/powerpoint/2010/main" val="6655908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0C46E-C4EA-417D-BE32-A5DC4E2B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8C896-E018-43C4-9540-3211B666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F2C31-4530-4D5B-96C8-04FFDA7B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Scientific background and reinforcement-learning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A32F1-7E57-4377-A181-7EF3FD4F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46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D9B34-0A0C-4C6A-998C-88796059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C3D2"/>
                </a:solidFill>
                <a:latin typeface="Arial"/>
                <a:ea typeface="Arial"/>
                <a:cs typeface="Arial"/>
              </a:rPr>
              <a:t>DOPA-SYNC  · 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D76B2-3C5E-4794-BF25-1F93DF99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B8DFB-0B3C-41FF-97CA-7DE08590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85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9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41447-F76C-4283-983B-61D1AD74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52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8BE62-45F2-4875-86BE-82680953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Schultz, W., Dayan, P., &amp; Montague, P. R. (1997)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B6D73-F428-459D-AC8E-F7D53D20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574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A neural substrate of prediction and reward. Science, 275(5306), 1593–1599.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29A72-68AA-4071-9ACC-FC0170A5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384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AE91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E91FF"/>
                </a:solidFill>
                <a:latin typeface="Arial"/>
                <a:ea typeface="Arial"/>
                <a:cs typeface="Arial"/>
              </a:rPr>
              <a:t>doi.org/10.1126/science.275.5306.1593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50D79-5775-40B8-8AC6-229CFF76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76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A7343-364D-49AD-A1CA-EDAD453B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52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9DF75-C667-4AF5-9966-75F28D5A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5752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Sutton, R. S., &amp; Barto, A. G. (2018)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9F3E4-E717-4114-ABD5-EAF3C953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480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Reinforcement Learning: An Introduction, 2nd edition. The MIT Press.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E8445-7BFA-4AED-A6E5-1FFD5C2B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290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8D6B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8D6B8"/>
                </a:solidFill>
                <a:latin typeface="Arial"/>
                <a:ea typeface="Arial"/>
                <a:cs typeface="Arial"/>
              </a:rPr>
              <a:t>ISBN 978-0-262-03924-6 · mitpress.mit.edu/9780262039246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2C412-C5F1-4FBE-974B-068F87F3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672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58C7FD-1D8C-4235-BBA2-B2BC715F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053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915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52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3407E3-E995-41B1-AA86-F780DF47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4817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Hollerman, J. R., &amp; Schultz, W. (1998)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32075-9209-4920-B36B-324BC64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387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67"/>
          </a:bodyPr>
          <a:lstStyle xmlns:a="http://schemas.openxmlformats.org/drawingml/2006/main">
            <a:def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4C3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4C3D2"/>
                </a:solidFill>
                <a:latin typeface="Arial"/>
                <a:ea typeface="Arial"/>
                <a:cs typeface="Arial"/>
              </a:rPr>
              <a:t>Dopamine neurons report an error in the temporal prediction of reward during learning. Nature Neuroscience, 1, 304–309.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8C015-F88F-4ECA-B1DA-42B2DEB9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197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9A8FF"/>
                </a:solidFill>
                <a:latin typeface="Arial"/>
                <a:ea typeface="Arial"/>
                <a:cs typeface="Arial"/>
              </a:rPr>
              <a:t>doi.org/10.1038/1124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8480BC-2EF7-4979-BABF-75CB6D25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81675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2B6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65F"/>
                </a:solidFill>
                <a:latin typeface="Arial"/>
                <a:ea typeface="Arial"/>
                <a:cs typeface="Arial"/>
              </a:rPr>
              <a:t>The neuroscience literature motivates the computational analogy; the traffic experiment does not test dopamine biology.</a:t>
            </a:r>
          </a:p>
        </p:txBody>
      </p:sp>
    </p:spTree>
    <p:extLst>
      <p:ext uri="{BB962C8B-B14F-4D97-AF65-F5344CB8AC3E}">
        <p14:creationId xmlns:p14="http://schemas.microsoft.com/office/powerpoint/2010/main" val="187263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2026-10-21T15:41:51.4710000Z</dcterms:created>
  <dcterms:modified xsi:type="dcterms:W3CDTF">2026-10-21T15:41:51.4710000Z</dcterms:modified>
</coreProperties>
</file>